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Markerless Baseball Pitching Analysis
from a Single Smartphone Video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BDD3EC"/>
                </a:solidFill>
                <a:latin typeface="Calibri"/>
              </a:rPr>
              <a:t>A student-reproducible methodology for validating low-cost 2D pose estimation</a:t>
            </a:r>
          </a:p>
          <a:p>
            <a:pPr>
              <a:spcBef>
                <a:spcPts val="2400"/>
              </a:spcBef>
            </a:pPr>
            <a:r>
              <a:rPr sz="1300" b="0">
                <a:solidFill>
                  <a:srgbClr val="BDD3EC"/>
                </a:solidFill>
                <a:latin typeface="Calibri"/>
              </a:rPr>
              <a:t>Sports Technology Club · Hyunjun Kim  |  KSEF 2026 / ISEF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Background — The Accessibility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Pitching = the fastest human joint motion (shoulder ~7,000°/s), elbow varus torque ~64 N·m → high injury risk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Standard analysis = optical marker mocap / multi-camera (KinaTrax, Hawk-Eye, Theia3D)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Requires costly hardware, controlled labs, expert staff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Result: students, youth, and amateurs who most need analysis cannot access it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→ Can a single low-cost smartphone close this gap?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Objectives and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Initial requirement: generate a joint skeleton ('stick figure') on each of two camera angles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RQ1. Stable pose estimation from one smartphone under different conditions (daylight side / backlit front)?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RQ2. Can pitch phases and key joint kinematics be computed automatically?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RQ3. Without ground-truth mocap, how do we validate the reliability of low-cost 2D measurement?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Related Work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Cameras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2D/3D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1 (smartphone)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Consumer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2D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Student/amateur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Calibri"/>
                        </a:rPr>
                        <a:t>pitchAI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Commercial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Lab/pro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Calibri"/>
                        </a:rPr>
                        <a:t>Fleisig 2024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Laboratory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Calibri"/>
                        </a:rPr>
                        <a:t>Aguinaldo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Multiple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Stadium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Calibri"/>
                        </a:rPr>
                        <a:t>PitcherNet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1 (broadcast)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High compute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Pro analytics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Calibri"/>
                        </a:rPr>
                        <a:t>OpenCap/Pose2Sim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Low–moderate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Researchers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444444"/>
                </a:solidFill>
                <a:latin typeface="Calibri"/>
              </a:rPr>
              <a:t>2025 J Sports Sci: "no current research exists on single-camera markerless feasibility for pitching analysis"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Novelty — Accessibility, Not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We do NOT claim higher accuracy than lab systems (marker mocap remains the standard)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Contribution 1 — Accessibility: pipeline runs on a single consumer smartphone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Contribution 2 — Cross-engine validation: two independent engines' agreement as a reliability proxy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Contribution 3 — Reproducible methodology: Bland-Altman · ICC · RMSE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No prior study applies this combination to baseball pitching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Input video → preprocessing (optional CLAHE backlight correction)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→ pose engine (MediaPipe / YOLO11) → COCO 17 joints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→ One-Euro smoothing (jitter removal) → skeleton overlay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→ automatic phase segmentation → joint kinematics → validation stats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Entirely Python 3.11 + open source — reproducible by students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Methods — Pose Estimation and Smoothing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Two engines unified under one convention (COCO 17 joints) → swappable &amp; comparable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MediaPipe BlazePose (Heavy): 33 landmarks, real-time on CPU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YOLO11-pose: 17 joints, backup for backlit/small subjects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One-Euro filter: speed-adaptive → minimal lag at release, tremor suppressed when static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In multi-person frames, auto-select the single pitcher (max joint-confidence sum)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Methods — Kinematics and Phase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Joint angle = interior angle of three points; elbow/knee as flexion (180° − interior)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Trunk tilt = angle of pelvis→shoulder vector relative to vertical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Automatic phase detection: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peak leg lift · foot contact · release (max wrist speed)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Throwing arm &amp; lead leg auto-determined from max wrist speed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Methods — Measurement-Reliability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CV angles vs ground truth (two trained annotators, manual)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Bland-Altman: bias + 95% limits of agreement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ICC(2,1): two-way random, absolute agreement + 95% CI (Shrout &amp; Fleiss 1979)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RMSE · MAE · Pearson r; test-retest / inter- &amp; intra-rater reliability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When ground truth is absent → cross-engine agreement as proxy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Result 1 — 100% Detection, Both Angles (RQ1)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10</a:t>
            </a:r>
          </a:p>
        </p:txBody>
      </p:sp>
      <p:pic>
        <p:nvPicPr>
          <p:cNvPr id="4" name="Picture 3" descr="fig_side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70332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37160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 Side (daylight): 122/122 = 100%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 Front (backlit, small): 197/197 = 100%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 Anatomically plausible tracking even in the hard backlit front view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 Requirement (two-angle stick figures) satisfied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  <a:latin typeface="Calibri"/>
              </a:rPr>
              <a:t>Figure. Skeleton overlay on the side-view (daylight) video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Result 2 — Automatic Kinematics &amp; Phases (RQ2)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11</a:t>
            </a:r>
          </a:p>
        </p:txBody>
      </p:sp>
      <p:pic>
        <p:nvPicPr>
          <p:cNvPr id="4" name="Picture 3" descr="fig_kinema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488873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37160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 Phases: leg lift (1.17s) → contact (2.10s) → release (2.33s)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 Peak wrist speed (~2,800 px/s) aligns exactly with release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 Lead knee 118° flexion → extension (lead-leg block)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•  Trunk forward tilt 38° at release (within normal 28–42°)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  <a:latin typeface="Calibri"/>
              </a:rPr>
              <a:t>Figure. Pitch-kinematics time series with auto phase markers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Result 3 — Cross-Engine &amp; Statistical Validation (RQ3)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Two engines localize the same points within 6–7% of torso length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Side 13.5px/7%, front 7.2px/6% → cross-validation feasible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MediaPipe: marginally lower jitter + ~7× faster → chosen as default engine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ICC(2,1) implementation matches Shrout &amp; Fleiss example (0.290) exactly ✓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End-to-end validation on synthetic GT works → ready for real annotations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Discussion — Limitations and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Limitations: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2D single camera → shoulder rotation unmeasurable (deliberately omitted)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30 fps undersamples release → 240 fps needed for formal capture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–  No ground truth / small sample → absolute accuracy pending validation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Significance: an accessible pipeline + a scientifically honest, reproducible validation methodology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Single smartphone → 100% detection &amp; automatic kinematics; value = accessibility + rigor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Future 1 — IRB-approved 240 fps, two-camera multi-pitcher dataset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Future 2 — establish per-variable valid ranges vs manual-annotation ground truth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Future 3 — sync force-plate GRF with video release → quantify 'lower body → ball'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Future 4 — extend to multi-camera 3D (Pose2Sim / OpenCap)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3EC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Requirement (two-angle stick figures) → extended into a full research study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Accessibility: single smartphone, open source, student-reproducible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Rigor: cross-engine validation + Bland-Altman/ICC/RMSE (ICC verified)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Honesty: 2D / 30 fps / shoulder-rotation limitations stated explicitly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•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